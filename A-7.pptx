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99" r:id="rId4"/>
    <p:sldId id="288" r:id="rId5"/>
    <p:sldId id="300" r:id="rId6"/>
    <p:sldId id="301" r:id="rId7"/>
    <p:sldId id="289" r:id="rId8"/>
    <p:sldId id="302" r:id="rId9"/>
    <p:sldId id="314" r:id="rId10"/>
    <p:sldId id="315" r:id="rId11"/>
    <p:sldId id="279" r:id="rId12"/>
    <p:sldId id="310" r:id="rId13"/>
    <p:sldId id="313" r:id="rId14"/>
    <p:sldId id="308" r:id="rId15"/>
    <p:sldId id="307" r:id="rId16"/>
    <p:sldId id="311" r:id="rId17"/>
    <p:sldId id="312" r:id="rId18"/>
    <p:sldId id="269" r:id="rId19"/>
    <p:sldId id="303" r:id="rId20"/>
    <p:sldId id="26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epika pudi" initials="dp" lastIdx="1" clrIdx="0"/>
  <p:cmAuthor id="2" name="prasadreddy kesari" initials="p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B1FF"/>
    <a:srgbClr val="A20CD6"/>
    <a:srgbClr val="B368A4"/>
    <a:srgbClr val="C21D1D"/>
    <a:srgbClr val="590D23"/>
    <a:srgbClr val="2DD738"/>
    <a:srgbClr val="3126FF"/>
    <a:srgbClr val="E5F07D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70580" autoAdjust="0"/>
  </p:normalViewPr>
  <p:slideViewPr>
    <p:cSldViewPr snapToGrid="0" showGuides="1">
      <p:cViewPr varScale="1">
        <p:scale>
          <a:sx n="71" d="100"/>
          <a:sy n="71" d="100"/>
        </p:scale>
        <p:origin x="40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9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9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IN"/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.GIF"/><Relationship Id="rId5" Type="http://schemas.openxmlformats.org/officeDocument/2006/relationships/tags" Target="../tags/tag5.xml"/><Relationship Id="rId10" Type="http://schemas.openxmlformats.org/officeDocument/2006/relationships/image" Target="../media/image1.png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3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0"/>
          <a:srcRect/>
          <a:stretch>
            <a:fillRect/>
          </a:stretch>
        </p:blipFill>
        <p:spPr bwMode="auto">
          <a:xfrm>
            <a:off x="0" y="0"/>
            <a:ext cx="2073275" cy="112204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4" name="TextBox 6"/>
          <p:cNvSpPr txBox="1"/>
          <p:nvPr>
            <p:custDataLst>
              <p:tags r:id="rId2"/>
            </p:custDataLst>
          </p:nvPr>
        </p:nvSpPr>
        <p:spPr>
          <a:xfrm>
            <a:off x="2056765" y="267335"/>
            <a:ext cx="8806815" cy="757555"/>
          </a:xfrm>
          <a:prstGeom prst="rect">
            <a:avLst/>
          </a:prstGeom>
          <a:noFill/>
        </p:spPr>
        <p:txBody>
          <a:bodyPr wrap="square" lIns="19998" tIns="9999" rIns="19998" bIns="9999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</a:p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R Siddhartha Engineering College </a:t>
            </a:r>
          </a:p>
        </p:txBody>
      </p:sp>
      <p:pic>
        <p:nvPicPr>
          <p:cNvPr id="2097153" name="Picture 5" descr="Image result for vrsec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1062970" y="0"/>
            <a:ext cx="1129030" cy="1542415"/>
          </a:xfrm>
          <a:prstGeom prst="rect">
            <a:avLst/>
          </a:prstGeom>
          <a:noFill/>
        </p:spPr>
      </p:pic>
      <p:sp>
        <p:nvSpPr>
          <p:cNvPr id="1048585" name="Title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-6350" y="1478915"/>
            <a:ext cx="12197715" cy="748665"/>
          </a:xfrm>
          <a:prstGeom prst="rect">
            <a:avLst/>
          </a:prstGeom>
        </p:spPr>
        <p:txBody>
          <a:bodyPr vert="horz" lIns="228600" tIns="228600" rIns="228600" bIns="0" rtlCol="0" anchor="b">
            <a:no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0" i="0" kern="1200" cap="none" spc="-150">
                <a:solidFill>
                  <a:srgbClr val="FFFEFF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Web-Based GIS Platform for Real-Time LULC Monitoring</a:t>
            </a:r>
          </a:p>
        </p:txBody>
      </p:sp>
      <p:sp>
        <p:nvSpPr>
          <p:cNvPr id="1048586" name="TextBox 8"/>
          <p:cNvSpPr txBox="1"/>
          <p:nvPr>
            <p:custDataLst>
              <p:tags r:id="rId5"/>
            </p:custDataLst>
          </p:nvPr>
        </p:nvSpPr>
        <p:spPr>
          <a:xfrm>
            <a:off x="0" y="2159000"/>
            <a:ext cx="12192000" cy="764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altLang="en-US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7" name="TextBox 7"/>
          <p:cNvSpPr txBox="1"/>
          <p:nvPr>
            <p:custDataLst>
              <p:tags r:id="rId6"/>
            </p:custDataLst>
          </p:nvPr>
        </p:nvSpPr>
        <p:spPr>
          <a:xfrm>
            <a:off x="-201" y="2541270"/>
            <a:ext cx="12192000" cy="6851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 in Information Technology</a:t>
            </a:r>
          </a:p>
          <a:p>
            <a:pPr algn="ctr"/>
            <a:r>
              <a:rPr lang="en-US" sz="2000" b="1" dirty="0">
                <a:solidFill>
                  <a:srgbClr val="BF11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altLang="en-US" sz="2000" b="1" dirty="0">
                <a:solidFill>
                  <a:srgbClr val="BF11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ajor</a:t>
            </a:r>
            <a:r>
              <a:rPr lang="en-US" sz="2000" b="1" dirty="0">
                <a:solidFill>
                  <a:srgbClr val="BF11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 Review Presentation</a:t>
            </a:r>
          </a:p>
        </p:txBody>
      </p:sp>
      <p:sp>
        <p:nvSpPr>
          <p:cNvPr id="1048588" name="Subtitle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0" y="3540125"/>
            <a:ext cx="12192000" cy="1420495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800" b="0" kern="1200">
                <a:solidFill>
                  <a:srgbClr val="FFFEFF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altLang="en-IN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CHENNARAO PAMARTHI(228W1A1246)</a:t>
            </a:r>
          </a:p>
          <a:p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BHAVANI PRASAD REDDY KESARI(228W1A1226)</a:t>
            </a:r>
            <a:r>
              <a:rPr lang="en-IN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9" name="Rectangle 3"/>
          <p:cNvSpPr/>
          <p:nvPr>
            <p:custDataLst>
              <p:tags r:id="rId8"/>
            </p:custDataLst>
          </p:nvPr>
        </p:nvSpPr>
        <p:spPr>
          <a:xfrm>
            <a:off x="0" y="5223827"/>
            <a:ext cx="12192000" cy="11258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</a:t>
            </a:r>
            <a:r>
              <a:rPr lang="en-IN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the guidance of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IN" sz="2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altLang="en-US" sz="2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Madhavi</a:t>
            </a:r>
            <a:r>
              <a:rPr lang="en-US" altLang="en-IN" sz="2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Latha</a:t>
            </a:r>
            <a:endParaRPr lang="en-IN" altLang="en-US" sz="21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endParaRPr lang="en-US" altLang="en-GB" sz="21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>
          <a:xfrm>
            <a:off x="100" y="-134"/>
            <a:ext cx="12192000" cy="1143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1048620" name="Content Placeholder 6"/>
          <p:cNvSpPr>
            <a:spLocks noGrp="1"/>
          </p:cNvSpPr>
          <p:nvPr>
            <p:ph idx="1"/>
          </p:nvPr>
        </p:nvSpPr>
        <p:spPr>
          <a:xfrm>
            <a:off x="613410" y="998855"/>
            <a:ext cx="10965180" cy="537781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and Problem Statement</a:t>
            </a:r>
          </a:p>
          <a:p>
            <a:pPr algn="just">
              <a:lnSpc>
                <a:spcPct val="150000"/>
              </a:lnSpc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Outcomes of the Project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Literature Su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and Requirement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Specifications</a:t>
            </a:r>
          </a:p>
          <a:p>
            <a:pPr algn="just">
              <a:lnSpc>
                <a:spcPct val="150000"/>
              </a:lnSpc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Methodology and Algorithms Involved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  <a:p>
            <a:pPr algn="just">
              <a:lnSpc>
                <a:spcPct val="150000"/>
              </a:lnSpc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Results Obtained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0"/>
            <a:ext cx="12190730" cy="1167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608330" y="1764665"/>
            <a:ext cx="10966450" cy="51828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urban expansion and environmental changes demand continuous land monitoring.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GIS systems are static and lack real-time AI integration.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intelligent platform that combines Deep Learning and Web GIS for dynamic LULC analysis.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33"/>
            <a:ext cx="12192000" cy="1137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6585" y="1536700"/>
            <a:ext cx="10969625" cy="5320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LULC analysis workflows are manual, time-consuming, and non-interactive.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unified web-based system exists to automatically classify satellite images and visualize results instantly.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integrated tools for real-time change detection and urban expansion analysis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6295281"/>
              </p:ext>
            </p:extLst>
          </p:nvPr>
        </p:nvGraphicFramePr>
        <p:xfrm>
          <a:off x="618807" y="443566"/>
          <a:ext cx="10954385" cy="5558649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46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0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83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4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</a:t>
                      </a:r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60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lang="en-I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Develop a web-based platform integrating deep learning for automated LULC classification.</a:t>
                      </a:r>
                    </a:p>
                    <a:p>
                      <a:pPr algn="just">
                        <a:lnSpc>
                          <a:spcPct val="150000"/>
                        </a:lnSpc>
                      </a:pPr>
                      <a:endParaRPr lang="en-US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lang="en-I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 interactive visualization of classified maps through an online GIS interface.</a:t>
                      </a:r>
                    </a:p>
                    <a:p>
                      <a:pPr algn="just">
                        <a:lnSpc>
                          <a:spcPct val="150000"/>
                        </a:lnSpc>
                      </a:pPr>
                      <a:endParaRPr lang="en-US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lang="en-I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 automated area statistics for different land cover classes.</a:t>
                      </a:r>
                    </a:p>
                    <a:p>
                      <a:pPr algn="just">
                        <a:lnSpc>
                          <a:spcPct val="150000"/>
                        </a:lnSpc>
                      </a:pPr>
                      <a:endParaRPr lang="en-US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I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en-US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functional Web GIS system capable of generating real-time LULC maps from uploaded satellite imagery.</a:t>
                      </a:r>
                    </a:p>
                    <a:p>
                      <a:pPr marL="0" indent="0" algn="just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lang="en-I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interactive GIS dashboard allowing users to explore, zoom, and analyze LULC outputs dynamically.</a:t>
                      </a:r>
                    </a:p>
                    <a:p>
                      <a:pPr marL="0" indent="0" algn="just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calculation and display of class-wise land distribution for improved spatial decision-making.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0"/>
            <a:ext cx="12192000" cy="869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69204"/>
              </p:ext>
            </p:extLst>
          </p:nvPr>
        </p:nvGraphicFramePr>
        <p:xfrm>
          <a:off x="600710" y="1209040"/>
          <a:ext cx="10974070" cy="5318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9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87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Journal/Conference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in Remote Sensing: A Comprehensive Review and List of Resource</a:t>
                      </a:r>
                      <a:r>
                        <a:rPr lang="en-IN" altLang="en-US" sz="1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Zhu, X., et al.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Geoscience and Remote Sensing Magazine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altLang="en-US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Provided a comprehensive review of deep learning methods in remote sensing, including CNN-based classification, feature learning and change detection techniques.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Image is Worth 16×16 Words: Transformers for Image Recognition at Scale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Dosovitskiy, A., et al.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Conference on Learning Representations (ICLR)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Vision Transformer (ViT), demonstrating the effectiveness of self-attention mechanisms for large-scale image classification without convolution layers.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Swin Transformer: Hierarchical Vision Transformer Using Shifted Windows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Liu, Z., et al.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International Conference on Computer Vision (ICCV)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Swin Transformer architecture with hierarchical representation and shifted-window attention for efficient image classification and segmentation.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 Detection from Remotely Sensed Images: From Pixel-Based to Object-Based Approaches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Hussain, M., et al.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ISPRS Journal of Photogrammetry and Remote Sensing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Reviewed pixel-based and object-based change detection techniques for multi-temporal remote sensing image analysis.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Internet GIS: Distributed Geographic Information Services for the Internet and Wireless Networks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Peng, Z., &amp; Tsou, M.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John Wiley &amp; Sons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Established foundational Web GIS architecture principles, including distributed GIS services and web-based spatial data visualization.</a:t>
                      </a:r>
                      <a:endParaRPr lang="en-US"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GIS: Principles and Applications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Li, S., Dragicevic, S., &amp; Veenendaal, B.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CRC Press (Book Publication)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alt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Provided comprehensive principles of Web GIS architecture, including client–server models, spatial databases, web mapping services, and distributed geospatial data management.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0" y="0"/>
            <a:ext cx="12190730" cy="11918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and Requirement</a:t>
            </a:r>
            <a:r>
              <a:rPr lang="en-I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Specifications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60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18490" y="1247775"/>
            <a:ext cx="10965180" cy="4828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Satellite Imagery: Landsat 8 / Sentinel-2 (GeoTIFF format)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Ground Truth Data: CSV file with latitude, longitude, and LULC labels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Multi-Temporal Images: Used for change detection (Before/After analysis)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Backend: Python (Flask / FastAPI), PyTorch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 (Leaflet.js)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GIS Server: GeoServer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Database: PostgreSQL with PostGIS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Hardware: 8GB RAM, Intel i5 (GPU optional)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0"/>
            <a:ext cx="12192000" cy="963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Methodology and Algorithms Involved</a:t>
            </a:r>
            <a:endParaRPr lang="en-IN" altLang="en-US" sz="3600" dirty="0"/>
          </a:p>
        </p:txBody>
      </p:sp>
      <p:sp>
        <p:nvSpPr>
          <p:cNvPr id="3" name="Text Box 2"/>
          <p:cNvSpPr txBox="1"/>
          <p:nvPr/>
        </p:nvSpPr>
        <p:spPr>
          <a:xfrm>
            <a:off x="621665" y="1568450"/>
            <a:ext cx="10956925" cy="44647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– Acquire satellite imagery (Landsat / Sentinel) and labeled training samples.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– Patch extraction, normalization, and resizing of satellite images.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– Train Vision Transformer (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Swin Transformer on labeled data.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– Classify satellite image patches into 4 LULC classes.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Integration – Deploy trained model in backend and display results on Web GIS platform.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Detection – Compare multi-temporal images to analyze urban expansion.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1D90DD-9F8A-DD3E-CDB3-A14B00E34098}"/>
              </a:ext>
            </a:extLst>
          </p:cNvPr>
          <p:cNvSpPr txBox="1"/>
          <p:nvPr/>
        </p:nvSpPr>
        <p:spPr>
          <a:xfrm>
            <a:off x="618565" y="1745719"/>
            <a:ext cx="10004611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Vision Transformer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ViT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Divides image into fixed-size patches.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Each patch is linearly embedded with positional encoding.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Uses global self-attention to capture relationships between all patches.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Strong at distinguishing spectrally similar classes (e.g., Agriculture vs Forest).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Formula: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Picture 3" descr="Screenshot 2025-09-15 144633">
            <a:extLst>
              <a:ext uri="{FF2B5EF4-FFF2-40B4-BE49-F238E27FC236}">
                <a16:creationId xmlns:a16="http://schemas.microsoft.com/office/drawing/2014/main" id="{6ADC3EB1-5388-E201-ACF5-6D07B2B4C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851" y="4523477"/>
            <a:ext cx="4200525" cy="590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7F9B5A-07BA-6A7A-6A19-5606451A9365}"/>
              </a:ext>
            </a:extLst>
          </p:cNvPr>
          <p:cNvSpPr txBox="1"/>
          <p:nvPr/>
        </p:nvSpPr>
        <p:spPr>
          <a:xfrm>
            <a:off x="4267200" y="107140"/>
            <a:ext cx="3003176" cy="82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522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B64A5C-01D0-0F33-28D6-216495B96409}"/>
              </a:ext>
            </a:extLst>
          </p:cNvPr>
          <p:cNvSpPr txBox="1"/>
          <p:nvPr/>
        </p:nvSpPr>
        <p:spPr>
          <a:xfrm>
            <a:off x="896471" y="1537970"/>
            <a:ext cx="10157012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Swin Transformer (ST)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version of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scalable for large satellite images.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local window-based attention + shifted windows to connect regions.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both fine details (farm boundaries, rivers) and global layout (urban sprawl, forest cover).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memory-efficient than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high-resolution LULC data.</a:t>
            </a:r>
          </a:p>
          <a:p>
            <a:pPr algn="just">
              <a:lnSpc>
                <a:spcPct val="15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Formula: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creenshot 2025-09-15 145027">
            <a:extLst>
              <a:ext uri="{FF2B5EF4-FFF2-40B4-BE49-F238E27FC236}">
                <a16:creationId xmlns:a16="http://schemas.microsoft.com/office/drawing/2014/main" id="{3A28F84C-E6EC-AD62-8A9F-DCEA0282D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342" y="4273321"/>
            <a:ext cx="5591175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346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0" y="8255"/>
            <a:ext cx="12192000" cy="10356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pic>
        <p:nvPicPr>
          <p:cNvPr id="1244420741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10" y="1744980"/>
            <a:ext cx="2910840" cy="2226310"/>
          </a:xfrm>
          <a:prstGeom prst="rect">
            <a:avLst/>
          </a:prstGeom>
        </p:spPr>
      </p:pic>
      <p:sp>
        <p:nvSpPr>
          <p:cNvPr id="1636679165" name="Text Box 1"/>
          <p:cNvSpPr txBox="1"/>
          <p:nvPr/>
        </p:nvSpPr>
        <p:spPr>
          <a:xfrm>
            <a:off x="4170045" y="2159635"/>
            <a:ext cx="2713990" cy="1397635"/>
          </a:xfrm>
          <a:prstGeom prst="rect">
            <a:avLst/>
          </a:prstGeom>
          <a:noFill/>
          <a:ln w="6350">
            <a:solidFill>
              <a:prstClr val="black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lang="en-US" altLang="zh-CN" sz="1200" b="1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Python (Flask / FastAPI) </a:t>
            </a:r>
          </a:p>
          <a:p>
            <a:pPr marL="171450" indent="-171450" algn="l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Receives Uploaded Image</a:t>
            </a:r>
          </a:p>
          <a:p>
            <a:pPr marL="171450" indent="-171450" algn="l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Sends Image to Model Pipeline</a:t>
            </a:r>
          </a:p>
          <a:p>
            <a:pPr marL="171450" indent="-171450" algn="l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Returns LULC Prediction as GeoTIF</a:t>
            </a:r>
            <a:r>
              <a:rPr lang="en-IN" altLang="en-US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F</a:t>
            </a:r>
          </a:p>
          <a:p>
            <a:pPr marL="171450" indent="-171450" algn="l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Sends Area Statistics JSON</a:t>
            </a:r>
          </a:p>
        </p:txBody>
      </p:sp>
      <p:sp>
        <p:nvSpPr>
          <p:cNvPr id="1754643772" name="Text Box 2"/>
          <p:cNvSpPr txBox="1"/>
          <p:nvPr/>
        </p:nvSpPr>
        <p:spPr>
          <a:xfrm>
            <a:off x="7428230" y="1457325"/>
            <a:ext cx="4206875" cy="2776855"/>
          </a:xfrm>
          <a:prstGeom prst="rect">
            <a:avLst/>
          </a:prstGeom>
          <a:noFill/>
          <a:ln w="6350">
            <a:solidFill>
              <a:prstClr val="black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</a:pPr>
            <a:r>
              <a:rPr lang="en-US" altLang="zh-CN" sz="1200" b="1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MODEL PROCESSING</a:t>
            </a:r>
          </a:p>
          <a:p>
            <a:pPr algn="ctr">
              <a:lnSpc>
                <a:spcPct val="108000"/>
              </a:lnSpc>
              <a:spcAft>
                <a:spcPts val="800"/>
              </a:spcAft>
            </a:pPr>
            <a:endParaRPr lang="en-US" altLang="zh-CN" sz="1200" kern="10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Times New Roman" panose="02020603050405020304"/>
            </a:endParaRP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 </a:t>
            </a:r>
          </a:p>
        </p:txBody>
      </p:sp>
      <p:sp>
        <p:nvSpPr>
          <p:cNvPr id="506966380" name="Text Box 3"/>
          <p:cNvSpPr txBox="1"/>
          <p:nvPr/>
        </p:nvSpPr>
        <p:spPr>
          <a:xfrm>
            <a:off x="7538085" y="1862455"/>
            <a:ext cx="1939925" cy="120142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lang="en-US" altLang="zh-CN" sz="1200" b="1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Preprocessing</a:t>
            </a:r>
            <a:b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</a:br>
            <a: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 • Band Selection</a:t>
            </a:r>
            <a:b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</a:br>
            <a: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 • Patch Extraction (64×64)</a:t>
            </a:r>
            <a:b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</a:br>
            <a: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 • Normalization</a:t>
            </a:r>
          </a:p>
        </p:txBody>
      </p:sp>
      <p:sp>
        <p:nvSpPr>
          <p:cNvPr id="1026355706" name="Text Box 4"/>
          <p:cNvSpPr txBox="1"/>
          <p:nvPr/>
        </p:nvSpPr>
        <p:spPr>
          <a:xfrm>
            <a:off x="9587865" y="1862455"/>
            <a:ext cx="1939925" cy="120142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lang="en-US" altLang="zh-CN" sz="1200" b="1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Transformer Models</a:t>
            </a:r>
            <a:b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</a:br>
            <a: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 • Vision Transformer (ViT)</a:t>
            </a:r>
            <a:b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</a:br>
            <a: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 • Swin Transformer</a:t>
            </a:r>
          </a:p>
        </p:txBody>
      </p:sp>
      <p:sp>
        <p:nvSpPr>
          <p:cNvPr id="1798243263" name="Text Box 5"/>
          <p:cNvSpPr txBox="1"/>
          <p:nvPr/>
        </p:nvSpPr>
        <p:spPr>
          <a:xfrm>
            <a:off x="8703945" y="3192145"/>
            <a:ext cx="1939925" cy="9144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lang="en-US" altLang="zh-CN" sz="1200" b="1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Classification</a:t>
            </a:r>
            <a: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 </a:t>
            </a:r>
            <a:b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</a:br>
            <a: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 • 8 LULC Classes</a:t>
            </a:r>
            <a:b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</a:br>
            <a: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• Softmax Output</a:t>
            </a:r>
          </a:p>
        </p:txBody>
      </p:sp>
      <p:sp>
        <p:nvSpPr>
          <p:cNvPr id="2066993582" name="Text Box 6"/>
          <p:cNvSpPr txBox="1"/>
          <p:nvPr/>
        </p:nvSpPr>
        <p:spPr>
          <a:xfrm>
            <a:off x="8274050" y="4855845"/>
            <a:ext cx="2515870" cy="1247775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altLang="zh-CN" sz="1200" b="1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GEOSERVER </a:t>
            </a:r>
            <a:b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</a:br>
            <a: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 • Publishes Predicted GeoTIFF</a:t>
            </a:r>
            <a:b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</a:br>
            <a: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 • Creates WMS / WFS Services</a:t>
            </a:r>
            <a:b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</a:br>
            <a: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• Layer Styling (SLD Color Mapping)</a:t>
            </a:r>
          </a:p>
        </p:txBody>
      </p:sp>
      <p:sp>
        <p:nvSpPr>
          <p:cNvPr id="1387633851" name="Text Box 9"/>
          <p:cNvSpPr txBox="1"/>
          <p:nvPr/>
        </p:nvSpPr>
        <p:spPr>
          <a:xfrm>
            <a:off x="5083175" y="4846320"/>
            <a:ext cx="2635250" cy="12446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lang="en-US" altLang="zh-CN" sz="1200" b="1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DATA SOURCE</a:t>
            </a:r>
            <a:b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</a:br>
            <a: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• Landsat / Sentinel Satellite Images</a:t>
            </a:r>
            <a:b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</a:br>
            <a: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• Government LULC Data</a:t>
            </a:r>
            <a:b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</a:br>
            <a: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• OpenStreetMap Base Map</a:t>
            </a:r>
          </a:p>
        </p:txBody>
      </p:sp>
      <p:sp>
        <p:nvSpPr>
          <p:cNvPr id="428577848" name="Text Box 7"/>
          <p:cNvSpPr txBox="1"/>
          <p:nvPr/>
        </p:nvSpPr>
        <p:spPr>
          <a:xfrm>
            <a:off x="1095375" y="4672965"/>
            <a:ext cx="3333750" cy="1589405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endParaRPr lang="en-US" altLang="zh-CN" sz="1100" kern="100">
              <a:latin typeface="Calibri" panose="020F0502020204030204"/>
              <a:ea typeface="Calibri" panose="020F0502020204030204"/>
              <a:cs typeface="Gautami"/>
              <a:sym typeface="Times New Roman" panose="02020603050405020304"/>
            </a:endParaRPr>
          </a:p>
        </p:txBody>
      </p:sp>
      <p:pic>
        <p:nvPicPr>
          <p:cNvPr id="7742111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503" y="4770755"/>
            <a:ext cx="1082675" cy="1350010"/>
          </a:xfrm>
          <a:prstGeom prst="rect">
            <a:avLst/>
          </a:prstGeom>
        </p:spPr>
      </p:pic>
      <p:sp>
        <p:nvSpPr>
          <p:cNvPr id="1930343898" name="Text Box 8"/>
          <p:cNvSpPr txBox="1"/>
          <p:nvPr/>
        </p:nvSpPr>
        <p:spPr>
          <a:xfrm>
            <a:off x="2576195" y="4846320"/>
            <a:ext cx="1695450" cy="12446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altLang="zh-CN" sz="1200" b="1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PostGIS</a:t>
            </a:r>
            <a:b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</a:br>
            <a: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 • Stores Spatial Layers</a:t>
            </a:r>
            <a:b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</a:br>
            <a: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 •  Results</a:t>
            </a:r>
            <a:b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</a:br>
            <a:r>
              <a:rPr lang="en-US" altLang="zh-CN" sz="1200" kern="1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Times New Roman" panose="02020603050405020304"/>
              </a:rPr>
              <a:t> •  Area Statistics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403350" y="4009390"/>
            <a:ext cx="15341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</p:txBody>
      </p:sp>
      <p:cxnSp>
        <p:nvCxnSpPr>
          <p:cNvPr id="8" name="Straight Arrow Connector 7"/>
          <p:cNvCxnSpPr>
            <a:stCxn id="1244420741" idx="3"/>
            <a:endCxn id="1636679165" idx="1"/>
          </p:cNvCxnSpPr>
          <p:nvPr/>
        </p:nvCxnSpPr>
        <p:spPr>
          <a:xfrm>
            <a:off x="3625850" y="2858135"/>
            <a:ext cx="544195" cy="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636679165" idx="3"/>
            <a:endCxn id="1754643772" idx="1"/>
          </p:cNvCxnSpPr>
          <p:nvPr/>
        </p:nvCxnSpPr>
        <p:spPr>
          <a:xfrm flipV="1">
            <a:off x="6884035" y="2846070"/>
            <a:ext cx="544195" cy="127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754643772" idx="2"/>
            <a:endCxn id="2066993582" idx="0"/>
          </p:cNvCxnSpPr>
          <p:nvPr/>
        </p:nvCxnSpPr>
        <p:spPr>
          <a:xfrm>
            <a:off x="9531985" y="4234180"/>
            <a:ext cx="0" cy="6216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2066993582" idx="1"/>
            <a:endCxn id="1387633851" idx="3"/>
          </p:cNvCxnSpPr>
          <p:nvPr/>
        </p:nvCxnSpPr>
        <p:spPr>
          <a:xfrm flipH="1" flipV="1">
            <a:off x="7718425" y="5468620"/>
            <a:ext cx="555625" cy="114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387633851" idx="1"/>
            <a:endCxn id="428577848" idx="3"/>
          </p:cNvCxnSpPr>
          <p:nvPr/>
        </p:nvCxnSpPr>
        <p:spPr>
          <a:xfrm flipH="1" flipV="1">
            <a:off x="4429125" y="5467985"/>
            <a:ext cx="654050" cy="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-317"/>
            <a:ext cx="10972800" cy="1143000"/>
          </a:xfrm>
        </p:spPr>
        <p:txBody>
          <a:bodyPr/>
          <a:lstStyle/>
          <a:p>
            <a:r>
              <a:rPr lang="en-IN" altLang="en-US" sz="3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Complete Results Obtained</a:t>
            </a:r>
            <a:endParaRPr lang="en-US" sz="360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0235" y="1600200"/>
            <a:ext cx="1097153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91AC52-260A-B0FA-B84B-63E6E9D28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76" y="189380"/>
            <a:ext cx="11698941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820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r="1076" b="1543"/>
          <a:stretch>
            <a:fillRect/>
          </a:stretch>
        </p:blipFill>
        <p:spPr>
          <a:xfrm>
            <a:off x="358588" y="972670"/>
            <a:ext cx="6642847" cy="4456430"/>
          </a:xfrm>
          <a:prstGeom prst="rect">
            <a:avLst/>
          </a:prstGeom>
        </p:spPr>
      </p:pic>
      <p:pic>
        <p:nvPicPr>
          <p:cNvPr id="2" name="Picture 1" descr="WhatsApp Image 2026-04-15 at 10.28.12 AM">
            <a:extLst>
              <a:ext uri="{FF2B5EF4-FFF2-40B4-BE49-F238E27FC236}">
                <a16:creationId xmlns:a16="http://schemas.microsoft.com/office/drawing/2014/main" id="{43A22135-67FA-C17F-0B44-533CDA911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451" y="1068723"/>
            <a:ext cx="3931920" cy="41397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0"/>
            <a:ext cx="12192635" cy="1001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037A8B-AD01-E409-F5BD-67CA1949EF17}"/>
              </a:ext>
            </a:extLst>
          </p:cNvPr>
          <p:cNvSpPr txBox="1"/>
          <p:nvPr/>
        </p:nvSpPr>
        <p:spPr>
          <a:xfrm>
            <a:off x="802255" y="1491264"/>
            <a:ext cx="1004114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Web GIS platform successfully generates LULC classified maps from uploaded satellite images.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real-time visualization of land use classes such as Urban, Agriculture, Water, and Barren land.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with Web GIS enables: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map visualization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Zoom and pan functionality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Overlay of classified LULC layers on base maps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addition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legend, chart, and statistics panel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user understanding.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224529B-AB33-D649-5008-5B7A2A6A6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547411"/>
              </p:ext>
            </p:extLst>
          </p:nvPr>
        </p:nvGraphicFramePr>
        <p:xfrm>
          <a:off x="1174377" y="1326777"/>
          <a:ext cx="9843246" cy="469241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81082">
                  <a:extLst>
                    <a:ext uri="{9D8B030D-6E8A-4147-A177-3AD203B41FA5}">
                      <a16:colId xmlns:a16="http://schemas.microsoft.com/office/drawing/2014/main" val="2478100180"/>
                    </a:ext>
                  </a:extLst>
                </a:gridCol>
                <a:gridCol w="3281082">
                  <a:extLst>
                    <a:ext uri="{9D8B030D-6E8A-4147-A177-3AD203B41FA5}">
                      <a16:colId xmlns:a16="http://schemas.microsoft.com/office/drawing/2014/main" val="2335476486"/>
                    </a:ext>
                  </a:extLst>
                </a:gridCol>
                <a:gridCol w="3281082">
                  <a:extLst>
                    <a:ext uri="{9D8B030D-6E8A-4147-A177-3AD203B41FA5}">
                      <a16:colId xmlns:a16="http://schemas.microsoft.com/office/drawing/2014/main" val="1445248185"/>
                    </a:ext>
                  </a:extLst>
                </a:gridCol>
              </a:tblGrid>
              <a:tr h="782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Aspect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Base Papers 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Proposed System (Your Project)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2943829"/>
                  </a:ext>
                </a:extLst>
              </a:tr>
              <a:tr h="782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Processing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Offline deep learning-based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Real-time web-based LULC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9148914"/>
                  </a:ext>
                </a:extLst>
              </a:tr>
              <a:tr h="782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User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 user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Interactive interface (upload, zoom, toggle)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2698672"/>
                  </a:ext>
                </a:extLst>
              </a:tr>
              <a:tr h="782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Static output images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Dynamic Web GIS map visualization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316473"/>
                  </a:ext>
                </a:extLst>
              </a:tr>
              <a:tr h="782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Output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Only classification 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Area statistics, charts, and legend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254109"/>
                  </a:ext>
                </a:extLst>
              </a:tr>
              <a:tr h="782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System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Only AI model focused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Complete system (AI + Web GIS + Dashboard)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148817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DFBF7CD-2CA2-FE7E-6E64-B8D488AA885C}"/>
              </a:ext>
            </a:extLst>
          </p:cNvPr>
          <p:cNvSpPr txBox="1"/>
          <p:nvPr/>
        </p:nvSpPr>
        <p:spPr>
          <a:xfrm>
            <a:off x="4670612" y="192478"/>
            <a:ext cx="3263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Observation</a:t>
            </a:r>
          </a:p>
        </p:txBody>
      </p:sp>
    </p:spTree>
    <p:extLst>
      <p:ext uri="{BB962C8B-B14F-4D97-AF65-F5344CB8AC3E}">
        <p14:creationId xmlns:p14="http://schemas.microsoft.com/office/powerpoint/2010/main" val="1538545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BF7492-62CA-82F4-795A-411A983A8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888" y="1557083"/>
            <a:ext cx="9698056" cy="2622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successfully developed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GIS Platform for LULC Monitoring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enables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classification and visualization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satellite images.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Users can upload images and obtain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LULC maps along with area statistics instantly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detection (before vs after analysis)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urban expansion monitoring.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 the system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global access.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DCBE7-C2C1-8500-CEFB-D1B358C6E224}"/>
              </a:ext>
            </a:extLst>
          </p:cNvPr>
          <p:cNvSpPr txBox="1"/>
          <p:nvPr/>
        </p:nvSpPr>
        <p:spPr>
          <a:xfrm>
            <a:off x="3470683" y="171397"/>
            <a:ext cx="5250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</p:txBody>
      </p:sp>
    </p:spTree>
    <p:extLst>
      <p:ext uri="{BB962C8B-B14F-4D97-AF65-F5344CB8AC3E}">
        <p14:creationId xmlns:p14="http://schemas.microsoft.com/office/powerpoint/2010/main" val="516256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72" y="0"/>
            <a:ext cx="12192000" cy="1049655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⁠References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395" y="1310640"/>
            <a:ext cx="10947400" cy="536067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Zhu, X. X., Tuia, D., Mou, L., Xia, G. S., Zhang, L., Xu, F., &amp; Fraundorfer, F. (2017). Deep learning in remote sensing: A comprehensive review and list of resources. IEEE Geoscience and Remote Sensing Magazine, 5(4), 8–36.</a:t>
            </a:r>
          </a:p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Dosovitskiy, A., Beyer, L., Kolesnikov, A., et al. (2020). An image is worth 16x16 words: Transformers for image recognition at scale. International Conference on Learning Representations (ICLR).</a:t>
            </a:r>
          </a:p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Liu, Z., Lin, Y., Cao, Y., et al. (2021). Swin Transformer: Hierarchical vision transformer using shifted windows. IEEE International Conference on Computer Vision (ICCV).</a:t>
            </a:r>
          </a:p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Hussain, M., Chen, D., Cheng, A., Wei, H., &amp; Stanley, D. (2013). Change detection from remotely sensed images: From pixel-based to object-based approaches. ISPRS Journal of Photogrammetry and Remote Sensing, 80, 91–106.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928235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[5] Peng, Z. R., &amp; Tsou, M. H. (2003). Internet GIS: Distributed geographic information services for the internet and wireless networks. John Wiley &amp; Sons.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[6] Li, S., Dragicevic, S., &amp; Castro, F. (2011). Web GIS: Principles and applications. International Journal of Geographical Information Science, 25(2), 195–218.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[7] Mountrakis, G., Im, J., &amp; Ogole, C. (2011). Support vector machines in remote sensing: A review. ISPRS Journal of Photogrammetry and Remote Sensing, 66(3), 247–259.</a:t>
            </a:r>
            <a:endParaRPr lang="en-US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62*503"/>
  <p:tag name="TABLE_ENDDRAG_RECT" val="48*22*862*50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64*403"/>
  <p:tag name="TABLE_ENDDRAG_RECT" val="47*110*864*403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1593</TotalTime>
  <Words>1508</Words>
  <Application>Microsoft Office PowerPoint</Application>
  <PresentationFormat>Widescreen</PresentationFormat>
  <Paragraphs>166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Default Design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Complete Results Obtained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⁠References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deepika pudi</dc:creator>
  <cp:lastModifiedBy>Chennarao Pamarthi</cp:lastModifiedBy>
  <cp:revision>67</cp:revision>
  <dcterms:created xsi:type="dcterms:W3CDTF">2024-07-23T11:13:00Z</dcterms:created>
  <dcterms:modified xsi:type="dcterms:W3CDTF">2026-04-20T00:58:54Z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1F5BEFF4F1814EE1823CFBA97D8BE12F_13</vt:lpwstr>
  </property>
  <property fmtid="{D5CDD505-2E9C-101B-9397-08002B2CF9AE}" pid="3" name="KSOProductBuildVer">
    <vt:lpwstr>1033-12.2.0.23196</vt:lpwstr>
  </property>
</Properties>
</file>